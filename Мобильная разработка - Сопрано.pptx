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0" r:id="rId2"/>
    <p:sldId id="294" r:id="rId3"/>
    <p:sldId id="298" r:id="rId4"/>
    <p:sldId id="299" r:id="rId5"/>
    <p:sldId id="300" r:id="rId6"/>
    <p:sldId id="295" r:id="rId7"/>
    <p:sldId id="289" r:id="rId8"/>
    <p:sldId id="296" r:id="rId9"/>
    <p:sldId id="297" r:id="rId10"/>
    <p:sldId id="262" r:id="rId11"/>
    <p:sldId id="291" r:id="rId12"/>
    <p:sldId id="288" r:id="rId13"/>
  </p:sldIdLst>
  <p:sldSz cx="13004800" cy="9753600"/>
  <p:notesSz cx="6858000" cy="9144000"/>
  <p:defaultTextStyle>
    <a:lvl1pPr algn="ctr" defTabSz="584200">
      <a:defRPr sz="3600">
        <a:latin typeface="+mn-lt"/>
        <a:ea typeface="+mn-ea"/>
        <a:cs typeface="+mn-cs"/>
        <a:sym typeface="Helvetica Light"/>
      </a:defRPr>
    </a:lvl1pPr>
    <a:lvl2pPr indent="228600" algn="ctr" defTabSz="584200">
      <a:defRPr sz="3600">
        <a:latin typeface="+mn-lt"/>
        <a:ea typeface="+mn-ea"/>
        <a:cs typeface="+mn-cs"/>
        <a:sym typeface="Helvetica Light"/>
      </a:defRPr>
    </a:lvl2pPr>
    <a:lvl3pPr indent="457200" algn="ctr" defTabSz="584200">
      <a:defRPr sz="3600">
        <a:latin typeface="+mn-lt"/>
        <a:ea typeface="+mn-ea"/>
        <a:cs typeface="+mn-cs"/>
        <a:sym typeface="Helvetica Light"/>
      </a:defRPr>
    </a:lvl3pPr>
    <a:lvl4pPr indent="685800" algn="ctr" defTabSz="584200">
      <a:defRPr sz="3600">
        <a:latin typeface="+mn-lt"/>
        <a:ea typeface="+mn-ea"/>
        <a:cs typeface="+mn-cs"/>
        <a:sym typeface="Helvetica Light"/>
      </a:defRPr>
    </a:lvl4pPr>
    <a:lvl5pPr indent="914400" algn="ctr" defTabSz="584200">
      <a:defRPr sz="3600">
        <a:latin typeface="+mn-lt"/>
        <a:ea typeface="+mn-ea"/>
        <a:cs typeface="+mn-cs"/>
        <a:sym typeface="Helvetica Light"/>
      </a:defRPr>
    </a:lvl5pPr>
    <a:lvl6pPr indent="1143000" algn="ctr" defTabSz="584200">
      <a:defRPr sz="3600">
        <a:latin typeface="+mn-lt"/>
        <a:ea typeface="+mn-ea"/>
        <a:cs typeface="+mn-cs"/>
        <a:sym typeface="Helvetica Light"/>
      </a:defRPr>
    </a:lvl6pPr>
    <a:lvl7pPr indent="1371600" algn="ctr" defTabSz="584200">
      <a:defRPr sz="3600">
        <a:latin typeface="+mn-lt"/>
        <a:ea typeface="+mn-ea"/>
        <a:cs typeface="+mn-cs"/>
        <a:sym typeface="Helvetica Light"/>
      </a:defRPr>
    </a:lvl7pPr>
    <a:lvl8pPr indent="1600200" algn="ctr" defTabSz="584200">
      <a:defRPr sz="3600">
        <a:latin typeface="+mn-lt"/>
        <a:ea typeface="+mn-ea"/>
        <a:cs typeface="+mn-cs"/>
        <a:sym typeface="Helvetica Light"/>
      </a:defRPr>
    </a:lvl8pPr>
    <a:lvl9pPr indent="1828800" algn="ctr" defTabSz="584200">
      <a:defRPr sz="360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34759-667E-49BF-819B-534894D2F31D}" v="2" dt="2026-01-15T08:53:06.97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0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578358">
              <a:spcBef>
                <a:spcPts val="4100"/>
              </a:spcBef>
              <a:defRPr sz="18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2522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578358">
              <a:spcBef>
                <a:spcPts val="4100"/>
              </a:spcBef>
              <a:defRPr sz="18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85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578358">
              <a:spcBef>
                <a:spcPts val="4100"/>
              </a:spcBef>
              <a:defRPr sz="18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978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>
            <a:lvl1pPr>
              <a:defRPr sz="8000" cap="none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lvl="0">
              <a:defRPr sz="1800"/>
            </a:pPr>
            <a:r>
              <a:rPr sz="8000"/>
              <a:t>Текст заголовка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3200"/>
              <a:t>Уровень текста 1</a:t>
            </a:r>
          </a:p>
          <a:p>
            <a:pPr lvl="1">
              <a:defRPr sz="1800"/>
            </a:pPr>
            <a:r>
              <a:rPr sz="3200"/>
              <a:t>Уровень текста 2</a:t>
            </a:r>
          </a:p>
          <a:p>
            <a:pPr lvl="2">
              <a:defRPr sz="1800"/>
            </a:pPr>
            <a:r>
              <a:rPr sz="3200"/>
              <a:t>Уровень текста 3</a:t>
            </a:r>
          </a:p>
          <a:p>
            <a:pPr lvl="3">
              <a:defRPr sz="1800"/>
            </a:pPr>
            <a:r>
              <a:rPr sz="3200"/>
              <a:t>Уровень текста 4</a:t>
            </a:r>
          </a:p>
          <a:p>
            <a:pPr lvl="4">
              <a:defRPr sz="1800"/>
            </a:pPr>
            <a:r>
              <a:rPr sz="3200"/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 sz="8000" cap="none">
                <a:latin typeface="Proxima Nova Regular"/>
                <a:ea typeface="Proxima Nova Regular"/>
                <a:cs typeface="Proxima Nova Regular"/>
                <a:sym typeface="Proxima Nova Regular"/>
              </a:defRPr>
            </a:lvl1pPr>
          </a:lstStyle>
          <a:p>
            <a:pPr lvl="0">
              <a:defRPr sz="1800"/>
            </a:pPr>
            <a:r>
              <a:rPr sz="8000"/>
              <a:t>Текст заголовка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 cap="none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lvl="0">
              <a:defRPr sz="1800"/>
            </a:pPr>
            <a:r>
              <a:rPr sz="6000"/>
              <a:t>Текст заголовка</a:t>
            </a:r>
          </a:p>
        </p:txBody>
      </p:sp>
      <p:sp>
        <p:nvSpPr>
          <p:cNvPr id="16" name="Shape 16"/>
          <p:cNvSpPr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3200"/>
              <a:t>Уровень текста 1</a:t>
            </a:r>
          </a:p>
          <a:p>
            <a:pPr lvl="1">
              <a:defRPr sz="1800"/>
            </a:pPr>
            <a:r>
              <a:rPr sz="3200"/>
              <a:t>Уровень текста 2</a:t>
            </a:r>
          </a:p>
          <a:p>
            <a:pPr lvl="2">
              <a:defRPr sz="1800"/>
            </a:pPr>
            <a:r>
              <a:rPr sz="3200"/>
              <a:t>Уровень текста 3</a:t>
            </a:r>
          </a:p>
          <a:p>
            <a:pPr lvl="3">
              <a:defRPr sz="1800"/>
            </a:pPr>
            <a:r>
              <a:rPr sz="3200"/>
              <a:t>Уровень текста 4</a:t>
            </a:r>
          </a:p>
          <a:p>
            <a:pPr lvl="4">
              <a:defRPr sz="1800"/>
            </a:pPr>
            <a:r>
              <a:rPr sz="3200"/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 — в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xfrm>
            <a:off x="1652041" y="750788"/>
            <a:ext cx="9700718" cy="759024"/>
          </a:xfrm>
          <a:prstGeom prst="rect">
            <a:avLst/>
          </a:prstGeom>
        </p:spPr>
        <p:txBody>
          <a:bodyPr/>
          <a:lstStyle>
            <a:lvl1pPr>
              <a:defRPr sz="4000" b="1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4000" b="1"/>
              <a:t>Текст заголовка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sz="4500" cap="all"/>
              <a:t>Текст заголовка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Уровень текста 1</a:t>
            </a:r>
          </a:p>
          <a:p>
            <a:pPr lvl="1">
              <a:defRPr sz="1800"/>
            </a:pPr>
            <a:r>
              <a:rPr sz="2800"/>
              <a:t>Уровень текста 2</a:t>
            </a:r>
          </a:p>
          <a:p>
            <a:pPr lvl="2">
              <a:defRPr sz="1800"/>
            </a:pPr>
            <a:r>
              <a:rPr sz="2800"/>
              <a:t>Уровень текста 3</a:t>
            </a:r>
          </a:p>
          <a:p>
            <a:pPr lvl="3">
              <a:defRPr sz="1800"/>
            </a:pPr>
            <a:r>
              <a:rPr sz="2800"/>
              <a:t>Уровень текста 4</a:t>
            </a:r>
          </a:p>
          <a:p>
            <a:pPr lvl="4">
              <a:defRPr sz="1800"/>
            </a:pPr>
            <a:r>
              <a:rPr sz="2800"/>
              <a:t>Уровень текста 5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/>
          <a:lstStyle>
            <a:lvl1pPr>
              <a:defRPr sz="8000" cap="none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lvl="0">
              <a:defRPr sz="1800"/>
            </a:pPr>
            <a:r>
              <a:rPr sz="8000"/>
              <a:t>Текст заголовка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1pPr>
            <a:lvl2pPr marL="6858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2pPr>
            <a:lvl3pPr marL="10287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4pPr>
            <a:lvl5pPr marL="17145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2800"/>
              <a:t>Уровень текста 1</a:t>
            </a:r>
          </a:p>
          <a:p>
            <a:pPr lvl="1">
              <a:defRPr sz="1800"/>
            </a:pPr>
            <a:r>
              <a:rPr sz="2800"/>
              <a:t>Уровень текста 2</a:t>
            </a:r>
          </a:p>
          <a:p>
            <a:pPr lvl="2">
              <a:defRPr sz="1800"/>
            </a:pPr>
            <a:r>
              <a:rPr sz="2800"/>
              <a:t>Уровень текста 3</a:t>
            </a:r>
          </a:p>
          <a:p>
            <a:pPr lvl="3">
              <a:defRPr sz="1800"/>
            </a:pPr>
            <a:r>
              <a:rPr sz="2800"/>
              <a:t>Уровень текста 4</a:t>
            </a:r>
          </a:p>
          <a:p>
            <a:pPr lvl="4">
              <a:defRPr sz="1800"/>
            </a:pPr>
            <a:r>
              <a:rPr sz="2800"/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>
            <a:lvl1pPr marL="4445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marL="8890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marL="13335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marL="17780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marL="22225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3600"/>
              <a:t>Уровень текста 1</a:t>
            </a:r>
          </a:p>
          <a:p>
            <a:pPr lvl="1">
              <a:defRPr sz="1800"/>
            </a:pPr>
            <a:r>
              <a:rPr sz="3600"/>
              <a:t>Уровень текста 2</a:t>
            </a:r>
          </a:p>
          <a:p>
            <a:pPr lvl="2">
              <a:defRPr sz="1800"/>
            </a:pPr>
            <a:r>
              <a:rPr sz="3600"/>
              <a:t>Уровень текста 3</a:t>
            </a:r>
          </a:p>
          <a:p>
            <a:pPr lvl="3">
              <a:defRPr sz="1800"/>
            </a:pPr>
            <a:r>
              <a:rPr sz="3600"/>
              <a:t>Уровень текста 4</a:t>
            </a:r>
          </a:p>
          <a:p>
            <a:pPr lvl="4">
              <a:defRPr sz="1800"/>
            </a:pPr>
            <a:r>
              <a:rPr sz="3600"/>
              <a:t>Уровень текста 5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Фото — 3 шт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Кавы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47948" y="133101"/>
            <a:ext cx="11708904" cy="1105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cap="none"/>
            </a:pPr>
            <a:r>
              <a:rPr sz="4500" cap="all"/>
              <a:t>Текст заголовка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1519634"/>
            <a:ext cx="11099800" cy="7171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2800"/>
              <a:t>Уровень текста 1</a:t>
            </a:r>
          </a:p>
          <a:p>
            <a:pPr lvl="1">
              <a:defRPr sz="1800"/>
            </a:pPr>
            <a:r>
              <a:rPr sz="2800"/>
              <a:t>Уровень текста 2</a:t>
            </a:r>
          </a:p>
          <a:p>
            <a:pPr lvl="2">
              <a:defRPr sz="1800"/>
            </a:pPr>
            <a:r>
              <a:rPr sz="2800"/>
              <a:t>Уровень текста 3</a:t>
            </a:r>
          </a:p>
          <a:p>
            <a:pPr lvl="3">
              <a:defRPr sz="1800"/>
            </a:pPr>
            <a:r>
              <a:rPr sz="2800"/>
              <a:t>Уровень текста 4</a:t>
            </a:r>
          </a:p>
          <a:p>
            <a:pPr lvl="4">
              <a:defRPr sz="1800"/>
            </a:pPr>
            <a:r>
              <a:rPr sz="2800"/>
              <a:t>Уровень текста 5</a:t>
            </a:r>
          </a:p>
        </p:txBody>
      </p:sp>
      <p:sp>
        <p:nvSpPr>
          <p:cNvPr id="4" name="Shape 4"/>
          <p:cNvSpPr/>
          <p:nvPr/>
        </p:nvSpPr>
        <p:spPr>
          <a:xfrm flipV="1">
            <a:off x="156966" y="1149349"/>
            <a:ext cx="12690867" cy="2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2497384" y="9264650"/>
            <a:ext cx="265532" cy="3048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1300">
                <a:latin typeface="Proxima Nova Light"/>
                <a:ea typeface="Proxima Nova Light"/>
                <a:cs typeface="Proxima Nova Light"/>
                <a:sym typeface="Proxima Nova Light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1pPr>
      <a:lvl2pPr indent="2286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2pPr>
      <a:lvl3pPr indent="4572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3pPr>
      <a:lvl4pPr indent="6858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4pPr>
      <a:lvl5pPr indent="9144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5pPr>
      <a:lvl6pPr indent="11430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6pPr>
      <a:lvl7pPr indent="13716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7pPr>
      <a:lvl8pPr indent="16002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8pPr>
      <a:lvl9pPr indent="18288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9pPr>
    </p:titleStyle>
    <p:bodyStyle>
      <a:lvl1pPr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1pPr>
      <a:lvl2pPr indent="4445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2pPr>
      <a:lvl3pPr indent="8890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3pPr>
      <a:lvl4pPr indent="13335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4pPr>
      <a:lvl5pPr indent="17780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5pPr>
      <a:lvl6pPr marL="2568222" indent="-345722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6pPr>
      <a:lvl7pPr marL="3012722" indent="-345722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7pPr>
      <a:lvl8pPr marL="3457222" indent="-345722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8pPr>
      <a:lvl9pPr marL="3901722" indent="-345722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9pPr>
    </p:bodyStyle>
    <p:otherStyle>
      <a:lvl1pPr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1pPr>
      <a:lvl2pPr indent="2286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2pPr>
      <a:lvl3pPr indent="4572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3pPr>
      <a:lvl4pPr indent="6858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4pPr>
      <a:lvl5pPr indent="9144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5pPr>
      <a:lvl6pPr indent="11430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6pPr>
      <a:lvl7pPr indent="13716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7pPr>
      <a:lvl8pPr indent="16002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8pPr>
      <a:lvl9pPr indent="18288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syai.pro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syai.pr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title"/>
          </p:nvPr>
        </p:nvSpPr>
        <p:spPr>
          <a:xfrm>
            <a:off x="1269999" y="2382335"/>
            <a:ext cx="10464800" cy="1731567"/>
          </a:xfrm>
          <a:prstGeom prst="rect">
            <a:avLst/>
          </a:prstGeom>
        </p:spPr>
        <p:txBody>
          <a:bodyPr>
            <a:normAutofit/>
          </a:bodyPr>
          <a:lstStyle>
            <a:lvl1pPr defTabSz="514095">
              <a:defRPr sz="7040" cap="all">
                <a:latin typeface="Proxima Nova Bold"/>
                <a:ea typeface="Proxima Nova Bold"/>
                <a:cs typeface="Proxima Nova Bold"/>
                <a:sym typeface="Proxima Nova Bold"/>
              </a:defRPr>
            </a:lvl1pPr>
          </a:lstStyle>
          <a:p>
            <a:pPr lvl="0">
              <a:defRPr sz="1800" cap="none"/>
            </a:pPr>
            <a:r>
              <a:rPr lang="en-US" sz="3600" cap="all" dirty="0" err="1"/>
              <a:t>MindFlair</a:t>
            </a:r>
            <a:br>
              <a:rPr lang="ru-RU" sz="3600" cap="all" dirty="0"/>
            </a:br>
            <a:br>
              <a:rPr lang="ru-RU" sz="3600" cap="all" dirty="0"/>
            </a:br>
            <a:r>
              <a:rPr lang="ru-RU" sz="3600" dirty="0"/>
              <a:t>Сопрано</a:t>
            </a:r>
            <a:endParaRPr sz="3600" cap="all" dirty="0"/>
          </a:p>
        </p:txBody>
      </p:sp>
      <p:sp>
        <p:nvSpPr>
          <p:cNvPr id="57" name="Shape 57"/>
          <p:cNvSpPr/>
          <p:nvPr/>
        </p:nvSpPr>
        <p:spPr>
          <a:xfrm>
            <a:off x="3184186" y="8044536"/>
            <a:ext cx="6636432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2500" dirty="0" err="1">
                <a:latin typeface="Proxima Nova Light"/>
                <a:ea typeface="Proxima Nova Light"/>
                <a:cs typeface="Proxima Nova Light"/>
                <a:sym typeface="Proxima Nova Light"/>
              </a:rPr>
              <a:t>Презентация</a:t>
            </a:r>
            <a:r>
              <a:rPr sz="2500" dirty="0">
                <a:latin typeface="Proxima Nova Light"/>
                <a:ea typeface="Proxima Nova Light"/>
                <a:cs typeface="Proxima Nova Light"/>
                <a:sym typeface="Proxima Nova Light"/>
              </a:rPr>
              <a:t> </a:t>
            </a:r>
            <a:r>
              <a:rPr sz="2500" dirty="0" err="1">
                <a:latin typeface="Proxima Nova Light"/>
                <a:ea typeface="Proxima Nova Light"/>
                <a:cs typeface="Proxima Nova Light"/>
                <a:sym typeface="Proxima Nova Light"/>
              </a:rPr>
              <a:t>для</a:t>
            </a:r>
            <a:r>
              <a:rPr sz="2500" dirty="0">
                <a:latin typeface="Proxima Nova Light"/>
                <a:ea typeface="Proxima Nova Light"/>
                <a:cs typeface="Proxima Nova Light"/>
                <a:sym typeface="Proxima Nova Light"/>
              </a:rPr>
              <a:t> </a:t>
            </a:r>
            <a:r>
              <a:rPr lang="ru-RU" sz="2500" dirty="0">
                <a:latin typeface="Proxima Nova Light"/>
                <a:ea typeface="Proxima Nova Light"/>
                <a:cs typeface="Proxima Nova Light"/>
                <a:sym typeface="Proxima Nova Light"/>
              </a:rPr>
              <a:t>олимпиады «</a:t>
            </a:r>
            <a:r>
              <a:rPr lang="en-US" sz="2500" dirty="0">
                <a:latin typeface="Proxima Nova Light"/>
                <a:ea typeface="Proxima Nova Light"/>
                <a:cs typeface="Proxima Nova Light"/>
                <a:sym typeface="Proxima Nova Light"/>
              </a:rPr>
              <a:t>IT-</a:t>
            </a:r>
            <a:r>
              <a:rPr lang="ru-RU" sz="2500">
                <a:latin typeface="Proxima Nova Light Italic"/>
                <a:ea typeface="Proxima Nova Light Italic"/>
                <a:cs typeface="Proxima Nova Light Italic"/>
                <a:sym typeface="Proxima Nova Light Italic"/>
              </a:rPr>
              <a:t>Планета»</a:t>
            </a:r>
            <a:endParaRPr sz="2500" dirty="0">
              <a:latin typeface="Proxima Nova Light Italic"/>
              <a:ea typeface="Proxima Nova Light Italic"/>
              <a:cs typeface="Proxima Nova Light Italic"/>
              <a:sym typeface="Proxima Nova Light Italic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298094" y="9063364"/>
            <a:ext cx="12408613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 algn="l">
              <a:defRPr sz="1800"/>
            </a:pPr>
            <a:endParaRPr sz="1400" dirty="0">
              <a:latin typeface="Proxima Nova Light Italic"/>
              <a:ea typeface="Proxima Nova Light Italic"/>
              <a:cs typeface="Proxima Nova Light Italic"/>
              <a:sym typeface="Proxima Nova Light Italic"/>
            </a:endParaRPr>
          </a:p>
        </p:txBody>
      </p:sp>
      <p:sp>
        <p:nvSpPr>
          <p:cNvPr id="60" name="Shape 60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Команда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2</a:t>
            </a:fld>
            <a:endParaRPr sz="1300"/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952500" y="1506934"/>
            <a:ext cx="11099800" cy="717153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Разработчик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ФИО: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Бурда Григорий Ильич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Роль на проекте: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Разработчик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Fullstack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Образование, курсы:</a:t>
            </a:r>
            <a:endParaRPr lang="ru-RU" sz="1800" b="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курс, Среднее специальное образование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Специальность: Информационные системы и программирование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Опыт коммерческой разработки/стажировок: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Отсутствует (учебные проекты)</a:t>
            </a:r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4112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Команда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3</a:t>
            </a:fld>
            <a:endParaRPr sz="1300"/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952500" y="1506934"/>
            <a:ext cx="11099800" cy="717153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Дизайнер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ФИО: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Недоступова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Алина Денисовна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Роль на проекте: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Дизайнер (UX/UI, разработка макетов интерфейсов)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Образование, курсы:</a:t>
            </a:r>
            <a:endParaRPr lang="ru-RU" sz="1800" b="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курс, Среднее специальное образование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Специальность: Информационные системы и программирование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Опыт коммерческой разработки/стажировок: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Отсутствует (учебные проекты)</a:t>
            </a:r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23925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Команда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4</a:t>
            </a:fld>
            <a:endParaRPr sz="1300"/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952500" y="1506934"/>
            <a:ext cx="11099800" cy="717153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Аналитик / Документация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ФИО: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Батиров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Алловидин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Бобиржонович</a:t>
            </a:r>
            <a:endParaRPr lang="ru-RU" sz="1800" b="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Роль на проекте: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Ведение документации (составление технической документации, спецификаций, отчетов)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Образование, курсы:</a:t>
            </a:r>
            <a:endParaRPr lang="ru-RU" sz="1800" b="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курс, Среднее специальное образование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Специальность: Информационные системы и программирование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Опыт коммерческой разработки/стажировок: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Отсутствует (учебные проекты)</a:t>
            </a:r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4933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Команда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5</a:t>
            </a:fld>
            <a:endParaRPr sz="1300"/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952500" y="1506934"/>
            <a:ext cx="11099800" cy="717153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Тестировщик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ФИО: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Федосеев Станислав Дмитриевич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Роль на проекте: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Тестировщик (QA, написание тест-кейсов, проверка функциональности)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Образование, курсы:</a:t>
            </a:r>
            <a:endParaRPr lang="ru-RU" sz="1800" b="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курс, Среднее специальное образование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Специальность: Информационные системы и программирование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Опыт коммерческой разработки/стажировок: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Отсутствует (учебные проекты)</a:t>
            </a:r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62795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Краткое Описание проекта</a:t>
            </a:r>
            <a:endParaRPr sz="4500" cap="all" dirty="0"/>
          </a:p>
        </p:txBody>
      </p:sp>
      <p:sp>
        <p:nvSpPr>
          <p:cNvPr id="82" name="Shape 82"/>
          <p:cNvSpPr>
            <a:spLocks noGrp="1"/>
          </p:cNvSpPr>
          <p:nvPr>
            <p:ph type="sldNum" sz="quarter" idx="2"/>
          </p:nvPr>
        </p:nvSpPr>
        <p:spPr>
          <a:xfrm>
            <a:off x="12531559" y="9264650"/>
            <a:ext cx="197182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6</a:t>
            </a:fld>
            <a:endParaRPr sz="1300"/>
          </a:p>
        </p:txBody>
      </p:sp>
      <p:graphicFrame>
        <p:nvGraphicFramePr>
          <p:cNvPr id="83" name="Table 83"/>
          <p:cNvGraphicFramePr/>
          <p:nvPr>
            <p:extLst>
              <p:ext uri="{D42A27DB-BD31-4B8C-83A1-F6EECF244321}">
                <p14:modId xmlns:p14="http://schemas.microsoft.com/office/powerpoint/2010/main" val="3367657673"/>
              </p:ext>
            </p:extLst>
          </p:nvPr>
        </p:nvGraphicFramePr>
        <p:xfrm>
          <a:off x="669329" y="1727200"/>
          <a:ext cx="11666140" cy="7178402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16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9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9521">
                <a:tc>
                  <a:txBody>
                    <a:bodyPr/>
                    <a:lstStyle/>
                    <a:p>
                      <a:pPr lvl="0" defTabSz="479044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ДЛЯ КОГО </a:t>
                      </a:r>
                      <a:r>
                        <a:rPr lang="ru-RU" sz="1600" dirty="0"/>
                        <a:t>(целевой сегмент)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Для людей, испытывающих психоэмоциональные трудности (стресс, тревога, выгорание), которые не имеют возможности или готовности обратиться к специалисту.</a:t>
                      </a:r>
                      <a:endParaRPr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479044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КОТОРЫЕ НЕДОВОЛЬНЫ </a:t>
                      </a:r>
                      <a:r>
                        <a:rPr lang="ru-RU" sz="1600" dirty="0"/>
                        <a:t>(текущая альтернатива)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spcBef>
                          <a:spcPts val="2500"/>
                        </a:spcBef>
                        <a:buSzPct val="75000"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Тем, что существующие бесплатные приложения (например, </a:t>
                      </a:r>
                      <a:r>
                        <a:rPr lang="ru-RU" sz="16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трекеры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 настроения) работают шаблонно, требуют постоянного ручного ввода, не дают глубокого анализа и конкретных рекомендаций, а профессиональные платформы и консультации специалистов (как «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  <a:hlinkClick r:id="rId2"/>
                        </a:rPr>
                        <a:t>PsyAI.pro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» или личная терапия) являются дорогостоящими, сложными для самостоятельного использования или недоступны из-за стигматизации ментальных проблем.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Proxima Nova Bold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479044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НАШ ПРОДУКТ </a:t>
                      </a:r>
                      <a:r>
                        <a:rPr lang="ru-RU" sz="1600" dirty="0"/>
                        <a:t>(ваша продуктовая категория)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50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tabLst/>
                        <a:defRPr sz="1800"/>
                      </a:pPr>
                      <a:r>
                        <a:rPr lang="ru-RU" sz="16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Наш продукт — психологическое приложение, которое позволяет (ключевое решение):</a:t>
                      </a:r>
                      <a:b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Осуществлять </a:t>
                      </a:r>
                      <a:r>
                        <a:rPr lang="ru-RU" sz="16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проактивный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 мониторинг психоэмоционального состояния путем автоматического анализа текстовых записей пользователя (личный дневник) с помощью ИИ для раннего выявления тревожных маркеров и скрытых проблем.</a:t>
                      </a:r>
                      <a:endParaRPr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479044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КОТОРЫЙ ПОЗВОЛЯЕТ</a:t>
                      </a:r>
                      <a:r>
                        <a:rPr lang="ru-RU" sz="1600" dirty="0"/>
                        <a:t>(ключевое решение)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tabLst/>
                        <a:defRPr sz="1800"/>
                      </a:pPr>
                      <a:r>
                        <a:rPr lang="ru-RU" sz="16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Превратить личные текстовые заметки в автоматический мониторинг психического здоровья: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 пользователь просто ведет записи в дневнике, а ИИ-модуль в реальном времени анализирует их, выявляя скрытые признаки тревоги, стресса или выгорания, которые сам человек может не замечать.</a:t>
                      </a:r>
                      <a:endParaRPr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479044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В ОТЛИЧИЕ ОТ </a:t>
                      </a:r>
                      <a:r>
                        <a:rPr lang="ru-RU" sz="1600" dirty="0"/>
                        <a:t>(альтернативные решения)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tabLst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Обычных дневников настроения («</a:t>
                      </a:r>
                      <a:r>
                        <a:rPr lang="ru-RU" sz="16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Moodly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»), которые лишь констатируют факты и не дают обратной связи, а также от профессиональных платформ («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  <a:hlinkClick r:id="rId2"/>
                        </a:rPr>
                        <a:t>PsyAI.pro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»), созданных для врачей, а не для пользователей,</a:t>
                      </a:r>
                      <a:endParaRPr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МЫ СДЕЛАЛИ </a:t>
                      </a:r>
                      <a:r>
                        <a:rPr lang="ru-RU" sz="1600" dirty="0"/>
                        <a:t>(ключевой функционал вашего продукта для конкретного решения проблемы)</a:t>
                      </a:r>
                    </a:p>
                    <a:p>
                      <a:pPr lvl="0" defTabSz="914400">
                        <a:defRPr sz="1800"/>
                      </a:pP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tabLst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roxima Nova Light"/>
                        </a:rPr>
                        <a:t>Интеллектуальный модуль, который не просто определяет эмоциональную окраску текста, но и выявляет ключевые слова-маркеры проблем, отслеживает динамику состояния во времени, предоставляет пользователю персонализированную обратную связь в виде визуальных отчетов и конкретных рекомендаций, помогая осознать свое состояние до того, как оно перерастет в серьезное нарушение.</a:t>
                      </a:r>
                      <a:endParaRPr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1476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60831">
              <a:defRPr sz="4320"/>
            </a:lvl1pPr>
          </a:lstStyle>
          <a:p>
            <a:pPr lvl="0">
              <a:defRPr sz="1800" cap="none"/>
            </a:pPr>
            <a:r>
              <a:rPr sz="4320" cap="all"/>
              <a:t>ПРОБЛЕМА / АЛЬТЕРНАТИВНЫЕ РЕШЕНИЯ</a:t>
            </a:r>
          </a:p>
        </p:txBody>
      </p:sp>
      <p:sp>
        <p:nvSpPr>
          <p:cNvPr id="178" name="Shape 178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7</a:t>
            </a:fld>
            <a:endParaRPr sz="1300"/>
          </a:p>
        </p:txBody>
      </p:sp>
      <p:graphicFrame>
        <p:nvGraphicFramePr>
          <p:cNvPr id="179" name="Table 179"/>
          <p:cNvGraphicFramePr/>
          <p:nvPr>
            <p:extLst>
              <p:ext uri="{D42A27DB-BD31-4B8C-83A1-F6EECF244321}">
                <p14:modId xmlns:p14="http://schemas.microsoft.com/office/powerpoint/2010/main" val="1460980600"/>
              </p:ext>
            </p:extLst>
          </p:nvPr>
        </p:nvGraphicFramePr>
        <p:xfrm>
          <a:off x="840684" y="1115952"/>
          <a:ext cx="11516168" cy="8601919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72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9719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ПРОБЛЕМА</a:t>
                      </a: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, ПОТРЕБНОСТЬ 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just" defTabSz="914400">
                        <a:buSzPct val="75000"/>
                        <a:buNone/>
                        <a:defRPr sz="1800"/>
                      </a:pP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Острая проблема — отсутствие своевременной и доступной психологической поддержки на ранних этапах ментальных нарушений. Пользователи сталкиваются с тремя барьерами: стигматизация (боязнь осуждения), высокая стоимость консультаций и нехватка времени. Проблема актуальна из-за растущего темпа жизни, стресса и информационной перегрузки. Масштаб проблемы огромен: пользователи теряют годы жизни в состоянии тревоги/выгорания, тратят десятки тысяч рублей на платных специалистов или не получают помощь вовсе, что приводит к ухудшению здоровья.</a:t>
                      </a: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10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АЛЬТЕРНАТИВЫ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Сейчас пользователи используют: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Бесплатные приложения-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трекеры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(аналог «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Moodly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»): отмечают настроение, ведут заметки.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Полноценные платные консультации психологов/психотерапевтов.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Профессиональные ИИ-платформы для специалистов («</a:t>
                      </a: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  <a:hlinkClick r:id="rId3"/>
                        </a:rPr>
                        <a:t>PsyAI.pro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»), недоступные обычным людям.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Самостоятельное ведение дневника без какой-либо обратной связи.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315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АНАЛИЗ КОНКУРЕНТОВ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Сильные стороны конкурентов: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простота использования (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Moodly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), высокая точность и безопасность для специалистов (</a:t>
                      </a: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  <a:hlinkClick r:id="rId3"/>
                        </a:rPr>
                        <a:t>PsyAI.pro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), локальное хранение данных (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Moodly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Слабые стороны: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трекеры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работают шаблонно, требуют ручного ввода и не дают глубокого анализа или рекомендаций (только констатируют факты). Профессиональные платформы дороги и не предназначены для конечных пользователей. Живые консультации требуют времени и денег.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Почему их недостаточно: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они не решают задачу </a:t>
                      </a:r>
                      <a:r>
                        <a:rPr lang="ru-RU" sz="1300" b="0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проактивного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и </a:t>
                      </a:r>
                      <a:r>
                        <a:rPr lang="ru-RU" sz="1300" b="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доступного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выявления скрытых проблем на ранней стадии, когда человек еще не готов идти к врачу, но уже нуждается в подсказках и анализе своего состояния.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10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ЦЕЛЬ и РЕЗУЛЬТАТ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Цель реализации: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создать инструмент для раннего выявления проблем с психоэмоциональным состоянием через анализ текста пользователя, чтобы снизить барьер входа в сферу ментального здоровья.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Результат для пользователя: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пользователь получает персонального "цифрового ассистента", который в автоматическом режиме анализирует его записи, визуализирует динамику настроения и выдает рекомендации. Это позволяет вовремя заметить проблему и осознать свое состояние.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469733589"/>
                  </a:ext>
                </a:extLst>
              </a:tr>
              <a:tr h="1865528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АКТУАЛЬНОСТЬ 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Ключевые тренды: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Развитие технологий ИИ: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появление доступных моделей для анализа текста (NLP), способных выявлять эмоциональную окраску и маркеры тревоги.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Рост осведомленности: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люди стали чаще говорить о ментальном здоровье, но стигма все еще мешает обращаться к специалистам.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Повсеместное проникновение мобильных устройств: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у каждого есть смартфон, чтобы вести дневник в любое время.</a:t>
                      </a:r>
                      <a:b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</a:b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Клиенты будут придерживаться нового предложения, потому что оно не требует денег (или стоит недорого), сохраняет анонимность и не принуждает к личному контакту со специалистом на ранних этапах.</a:t>
                      </a:r>
                    </a:p>
                    <a:p>
                      <a:pPr lvl="0" algn="just" defTabSz="914400">
                        <a:defRPr sz="1800"/>
                      </a:pPr>
                      <a:endParaRPr sz="13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2583880163"/>
                  </a:ext>
                </a:extLst>
              </a:tr>
              <a:tr h="1871988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ПРЕИМУЩЕСТВА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Проактивность</a:t>
                      </a: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vs</a:t>
                      </a: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. Пассивность: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в отличие от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трекеров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, мы не просто храним данные, а анализируем их и выдаем инсайты.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Доступность: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в отличие от психологов и платформ типа </a:t>
                      </a: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  <a:hlinkClick r:id="rId3"/>
                        </a:rPr>
                        <a:t>PsyAI.pro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, наше решение доступно массовому пользователю 24/7.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Глубина анализа: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вместо выбора смайлика настроения, мы анализируем живую речь пользователя, выявляя то, что он сам мог не заметить.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Визуализация динамики: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пользователь видит не разрозненные записи, а график изменений своего состояния во времени.</a:t>
                      </a:r>
                    </a:p>
                    <a:p>
                      <a:pPr algn="just"/>
                      <a:br>
                        <a:rPr lang="ru-RU" sz="13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sz="13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75555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0831">
              <a:defRPr sz="4320"/>
            </a:lvl1pPr>
          </a:lstStyle>
          <a:p>
            <a:pPr lvl="0">
              <a:defRPr sz="1800" cap="none"/>
            </a:pPr>
            <a:r>
              <a:rPr lang="ru-RU" sz="4400" cap="all" dirty="0"/>
              <a:t>КЛИЕНТЫ и СЕГМЕНТЫ</a:t>
            </a:r>
            <a:endParaRPr sz="4320" cap="all" dirty="0"/>
          </a:p>
        </p:txBody>
      </p:sp>
      <p:sp>
        <p:nvSpPr>
          <p:cNvPr id="178" name="Shape 178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8</a:t>
            </a:fld>
            <a:endParaRPr sz="1300"/>
          </a:p>
        </p:txBody>
      </p:sp>
      <p:graphicFrame>
        <p:nvGraphicFramePr>
          <p:cNvPr id="179" name="Table 179"/>
          <p:cNvGraphicFramePr/>
          <p:nvPr>
            <p:extLst>
              <p:ext uri="{D42A27DB-BD31-4B8C-83A1-F6EECF244321}">
                <p14:modId xmlns:p14="http://schemas.microsoft.com/office/powerpoint/2010/main" val="3843219207"/>
              </p:ext>
            </p:extLst>
          </p:nvPr>
        </p:nvGraphicFramePr>
        <p:xfrm>
          <a:off x="840684" y="1563401"/>
          <a:ext cx="11516168" cy="6028666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2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6228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Портрет целевого клиента/пользователя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just" defTabSz="914400">
                        <a:buSzPct val="75000"/>
                        <a:buNone/>
                        <a:defRPr sz="1800"/>
                      </a:pP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Горожане 18–45 лет (офисные сотрудники, IT, студенты) в состоянии стресса/выгорания. Решение принимают импульсивно при нарастающем дискомфорте. Бюджет: 200–500 руб. за премиум, базовый функционал — бесплатно.</a:t>
                      </a:r>
                      <a:endParaRPr sz="13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972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Если </a:t>
                      </a:r>
                      <a:r>
                        <a:rPr lang="en-US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B2B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Пользователь: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сотрудники.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ЛПР: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HR-директор (мотивация — удержание персонала).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Владелец бюджета: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финдиректор (ценность — экономия на больничных).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Согласования: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юристы (защита данных).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7835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en-US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Use Case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just" defTabSz="914400">
                        <a:defRPr sz="1800"/>
                      </a:pP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Офисный сотрудник чувствует хроническую усталость и тревогу, но к психологу идти боится (дорого/стыдно). Сейчас гуглит симптомы или ведет заметки в телефоне без системы. Проблема усугубляется.</a:t>
                      </a:r>
                      <a:endParaRPr sz="13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9749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Портрет раннего последователя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just" defTabSz="914400">
                        <a:defRPr sz="1800"/>
                      </a:pP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Девушка 28–32 лет, успешная внешне, но с высокой тревогой и самокритикой. Просыпается ночью от мыслей о работе. Пробовала психологов — дорого. Нужен анонимный "цифровой ассистент" 24/7.</a:t>
                      </a:r>
                      <a:endParaRPr sz="13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469733589"/>
                  </a:ext>
                </a:extLst>
              </a:tr>
              <a:tr h="1720882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Контакт с клиентом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Telegram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-каналы про психологию.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Блоги психологов (VK,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Yappy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).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Контекстная реклама (Яндекс: "тревога", "выгорание", "тест на стресс").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HR-сообщества (для B2B).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258388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2671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0831">
              <a:defRPr sz="4320"/>
            </a:lvl1pPr>
          </a:lstStyle>
          <a:p>
            <a:pPr lvl="0">
              <a:defRPr sz="1800" cap="none"/>
            </a:pPr>
            <a:r>
              <a:rPr lang="ru-RU" sz="4400" cap="all" dirty="0"/>
              <a:t>Технологии и инструменты </a:t>
            </a:r>
            <a:endParaRPr sz="4320" cap="all" dirty="0"/>
          </a:p>
        </p:txBody>
      </p:sp>
      <p:sp>
        <p:nvSpPr>
          <p:cNvPr id="178" name="Shape 178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9</a:t>
            </a:fld>
            <a:endParaRPr sz="1300"/>
          </a:p>
        </p:txBody>
      </p:sp>
      <p:graphicFrame>
        <p:nvGraphicFramePr>
          <p:cNvPr id="179" name="Table 179"/>
          <p:cNvGraphicFramePr/>
          <p:nvPr>
            <p:extLst>
              <p:ext uri="{D42A27DB-BD31-4B8C-83A1-F6EECF244321}">
                <p14:modId xmlns:p14="http://schemas.microsoft.com/office/powerpoint/2010/main" val="2437952670"/>
              </p:ext>
            </p:extLst>
          </p:nvPr>
        </p:nvGraphicFramePr>
        <p:xfrm>
          <a:off x="840684" y="1563401"/>
          <a:ext cx="11516168" cy="7846972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2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6291">
                <a:tc>
                  <a:txBody>
                    <a:bodyPr/>
                    <a:lstStyle/>
                    <a:p>
                      <a:pPr lvl="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sym typeface="Proxima Nova Light"/>
                        </a:rPr>
                        <a:t>Что лежит в основе вашего решения?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Использованные технологии:</a:t>
                      </a:r>
                      <a:endParaRPr lang="ru-RU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Язык: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Python 3.11.9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Производительность: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Cython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(ускорение Python)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Сервер: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FastAPI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(асинхронный сервер)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База данных: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SQLite3 +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SQLAlchemy</a:t>
                      </a:r>
                      <a:endParaRPr lang="ru-RU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Асинхронность: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Asyncio</a:t>
                      </a:r>
                      <a:endParaRPr lang="ru-RU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Типизация: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Pydantic</a:t>
                      </a:r>
                      <a:endParaRPr lang="ru-RU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Почему выбрали:</a:t>
                      </a:r>
                      <a:b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</a:b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Рассматривали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Django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и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Flask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, но выбрали 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FastAPI</a:t>
                      </a: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+ 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Asyncio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из-за высокой производительности и асинхронности (критично для одновременных запросов). 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SQLite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обеспечивает приватность (данные хранятся локально). 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Cython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ускоряет анализ текста.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92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Почему данная технология является уникальной (если является)?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Технология не уникальна глобально, но </a:t>
                      </a: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комбинация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оптимизирована для психологического приложения:</a:t>
                      </a:r>
                    </a:p>
                    <a:p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Асинхронная архитектура обеспечивает отзывчивость во время анализа ИИ</a:t>
                      </a:r>
                    </a:p>
                    <a:p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Локальное хранение данных решает проблему приватности</a:t>
                      </a:r>
                    </a:p>
                    <a:p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Cython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ускоряет обработку текста на устройстве пользователя</a:t>
                      </a:r>
                    </a:p>
                    <a:p>
                      <a:pPr>
                        <a:defRPr sz="1800"/>
                      </a:pPr>
                      <a:endParaRPr lang="ru-RU" sz="13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2247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Используются ли ИИ, нейросети и </a:t>
                      </a:r>
                      <a:r>
                        <a:rPr lang="ru-RU" sz="1600" b="0" i="0" dirty="0" err="1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тп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? 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Proxima Nova Light"/>
                        <a:ea typeface="+mn-ea"/>
                        <a:cs typeface="+mn-cs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Для документации (английский язык):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использовали 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GigaChat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, </a:t>
                      </a: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Gemini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и </a:t>
                      </a:r>
                      <a:r>
                        <a:rPr lang="ru-RU" sz="1300" b="1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GeminiN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для перевода технической документации и подготовки англоязычных материалов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и отладки отдельных модулей</a:t>
                      </a:r>
                      <a:endParaRPr sz="13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469733589"/>
                  </a:ext>
                </a:extLst>
              </a:tr>
              <a:tr h="1720882">
                <a:tc>
                  <a:txBody>
                    <a:bodyPr/>
                    <a:lstStyle/>
                    <a:p>
                      <a:pPr lvl="0" algn="ctr" defTabSz="58420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Кто в команде обладает уникальной технологической экспертизой, которая делает вашу технологию прорывной (если делает)?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Разработчик</a:t>
                      </a:r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-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Бурда Григорий Ильич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Backend (</a:t>
                      </a:r>
                      <a:r>
                        <a:rPr lang="en-US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FastAPI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, SQLite, </a:t>
                      </a:r>
                      <a:r>
                        <a:rPr lang="en-US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Cython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),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интеграция ИИ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-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модуля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lvl="0" algn="l" defTabSz="914400">
                        <a:defRPr sz="1800"/>
                      </a:pP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Дизайнер</a:t>
                      </a:r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-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Недоступова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Алина Денисовна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UX/UI для чувствительных данных, визуализация графиков динамики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lvl="0" algn="l" defTabSz="914400">
                        <a:defRPr sz="1800"/>
                      </a:pP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Аналитик</a:t>
                      </a:r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-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Батиров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Алловидин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Бобиржонович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Техническая документация, спецификации, перевод материалов с помощью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GigaChat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/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Gemini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lvl="0" algn="l" defTabSz="914400">
                        <a:defRPr sz="1800"/>
                      </a:pP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Тестировщик</a:t>
                      </a:r>
                      <a:r>
                        <a:rPr lang="en-US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-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Федосеев Станислав Дмитриевич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QA, тестирование точности ИИ-анализа, написание тест-кейсов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lvl="0" algn="l" defTabSz="914400">
                        <a:defRPr sz="1800"/>
                      </a:pPr>
                      <a:endParaRPr sz="13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258388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3611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Бизнес-модель и инвестиции</a:t>
            </a:r>
            <a:endParaRPr sz="4500" cap="all" dirty="0"/>
          </a:p>
        </p:txBody>
      </p:sp>
      <p:sp>
        <p:nvSpPr>
          <p:cNvPr id="82" name="Shape 82"/>
          <p:cNvSpPr>
            <a:spLocks noGrp="1"/>
          </p:cNvSpPr>
          <p:nvPr>
            <p:ph type="sldNum" sz="quarter" idx="2"/>
          </p:nvPr>
        </p:nvSpPr>
        <p:spPr>
          <a:xfrm>
            <a:off x="12531559" y="9264650"/>
            <a:ext cx="197182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10</a:t>
            </a:fld>
            <a:endParaRPr sz="1300"/>
          </a:p>
        </p:txBody>
      </p:sp>
      <p:graphicFrame>
        <p:nvGraphicFramePr>
          <p:cNvPr id="83" name="Table 83"/>
          <p:cNvGraphicFramePr/>
          <p:nvPr>
            <p:extLst>
              <p:ext uri="{D42A27DB-BD31-4B8C-83A1-F6EECF244321}">
                <p14:modId xmlns:p14="http://schemas.microsoft.com/office/powerpoint/2010/main" val="469920254"/>
              </p:ext>
            </p:extLst>
          </p:nvPr>
        </p:nvGraphicFramePr>
        <p:xfrm>
          <a:off x="669329" y="1727200"/>
          <a:ext cx="11666140" cy="7476125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16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9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Категория</a:t>
                      </a:r>
                      <a:r>
                        <a:rPr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/</a:t>
                      </a: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бизнес</a:t>
                      </a:r>
                      <a:r>
                        <a:rPr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 </a:t>
                      </a: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модель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Сектор: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Digital Health / Ментальное здоровье (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EdTech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Клиенты: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B2C (физические лица 18–45 лет) + B2B (корпоративные клиенты: малый и средний бизнес, Enterprise для программ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wellbeing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География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Текущая: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Россия, СНГ (Казахстан, Беларусь)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Через 3–5 лет: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Азия (Корея, Китай) — адаптация под локальные языки и культурные особенности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Временные затраты на реализацию 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Проработка идеи: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2–3 месяца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Реализация приложения: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6–8 месяцев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Следующий этап: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Пилотное тестирование, доработка ИИ, выход на B2B-клиентов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Оценка себестоимости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Оценка: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~1.5–2 млн руб. (MVP)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Основные статьи расходов: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разработка (50%), обучение нейросети (20%), дизайн (10%), серверы (10%), тестирование (10%)</a:t>
                      </a:r>
                    </a:p>
                    <a:p>
                      <a:pPr marL="0" lvl="0" indent="0" algn="just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990352966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Продажи и продвижение 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Инструменты продаж:</a:t>
                      </a:r>
                      <a:endParaRPr lang="ru-RU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B2C: ASO, органический трафик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B2B: прямые переговоры с HR, партнерства с психологами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Инструменты продвижения:</a:t>
                      </a:r>
                      <a:endParaRPr lang="ru-RU" sz="13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Proxima Nova Light"/>
                      </a:endParaRP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Контекстная реклама (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Яндекс.Директ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)</a:t>
                      </a:r>
                    </a:p>
                    <a:p>
                      <a:pPr algn="just"/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Таргет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в VK, 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Telegram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-каналы про психологию</a:t>
                      </a:r>
                    </a:p>
                    <a:p>
                      <a:pPr algn="just"/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Интеграции с блогерами-психологами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Модель монетизации: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Freemium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+ Подписка (B2C) + Корпоративные лицензии (B2B)</a:t>
                      </a:r>
                      <a:b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</a:br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Ценообразование: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B2C: 300–800 руб./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мес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; B2B: 500–2500 руб./</a:t>
                      </a:r>
                      <a:r>
                        <a:rPr lang="ru-RU" sz="13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мес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 за сотрудника</a:t>
                      </a:r>
                    </a:p>
                    <a:p>
                      <a:pPr marL="0" lvl="0" indent="0" algn="just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9521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Требуемые инвестиции</a:t>
                      </a:r>
                    </a:p>
                    <a:p>
                      <a:pPr lvl="0" defTabSz="914400">
                        <a:defRPr sz="1800"/>
                      </a:pP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Сумма: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5 млн руб.</a:t>
                      </a:r>
                    </a:p>
                    <a:p>
                      <a:pPr algn="just"/>
                      <a:r>
                        <a:rPr lang="ru-RU" sz="13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Статьи расходов:</a:t>
                      </a:r>
                      <a:r>
                        <a:rPr lang="ru-RU" sz="13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Proxima Nova Light"/>
                        </a:rPr>
                        <a:t> маркетинг (40%), ФОТ (30%), партнерская сеть (15%), R&amp;D (15%)</a:t>
                      </a:r>
                    </a:p>
                    <a:p>
                      <a:pPr marL="0" lvl="0" indent="0" algn="just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Calibri" panose="020F0502020204030204" pitchFamily="34" charset="0"/>
                        <a:ea typeface="Proxima Nova Light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Видео работы приложения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11</a:t>
            </a:fld>
            <a:endParaRPr sz="1300"/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3AA48-BFF4-8FF4-6484-0AD82B163024}"/>
              </a:ext>
            </a:extLst>
          </p:cNvPr>
          <p:cNvSpPr txBox="1"/>
          <p:nvPr/>
        </p:nvSpPr>
        <p:spPr>
          <a:xfrm>
            <a:off x="3853594" y="1858851"/>
            <a:ext cx="535082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rgbClr val="000000"/>
                </a:solidFill>
              </a:rPr>
              <a:t>Работа в режиме отладки</a:t>
            </a:r>
            <a:endParaRPr kumimoji="0" lang="ru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1D1BA-6469-AC3C-CB93-351A95CA9D03}"/>
              </a:ext>
            </a:extLst>
          </p:cNvPr>
          <p:cNvSpPr txBox="1"/>
          <p:nvPr/>
        </p:nvSpPr>
        <p:spPr>
          <a:xfrm>
            <a:off x="3249827" y="3997577"/>
            <a:ext cx="6499654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dirty="0"/>
              <a:t>https://drive.google.com/file/d/1sg4lPe4LGsjE5_4R0jaGtg8_KjNDUotZ/view?usp=drive_link</a:t>
            </a:r>
          </a:p>
        </p:txBody>
      </p:sp>
    </p:spTree>
    <p:extLst>
      <p:ext uri="{BB962C8B-B14F-4D97-AF65-F5344CB8AC3E}">
        <p14:creationId xmlns:p14="http://schemas.microsoft.com/office/powerpoint/2010/main" val="21360796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/>
          </p:cNvSpPr>
          <p:nvPr>
            <p:ph type="sldNum" sz="quarter" idx="2"/>
          </p:nvPr>
        </p:nvSpPr>
        <p:spPr>
          <a:xfrm>
            <a:off x="12483185" y="9264650"/>
            <a:ext cx="293930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  <a:t>12</a:t>
            </a:fld>
            <a:endParaRPr sz="1300"/>
          </a:p>
        </p:txBody>
      </p:sp>
      <p:sp>
        <p:nvSpPr>
          <p:cNvPr id="297" name="Shape 2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sz="4500" cap="all" dirty="0"/>
              <a:t>КОНТАКТЫ</a:t>
            </a:r>
            <a:r>
              <a:rPr lang="ru-RU" sz="4500" cap="all" dirty="0"/>
              <a:t> капитана </a:t>
            </a:r>
            <a:endParaRPr sz="4500" cap="all" dirty="0"/>
          </a:p>
        </p:txBody>
      </p:sp>
      <p:sp>
        <p:nvSpPr>
          <p:cNvPr id="298" name="Shape 29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  <a:endParaRPr/>
          </a:p>
        </p:txBody>
      </p:sp>
      <p:sp>
        <p:nvSpPr>
          <p:cNvPr id="299" name="Shape 299"/>
          <p:cNvSpPr>
            <a:spLocks noGrp="1"/>
          </p:cNvSpPr>
          <p:nvPr>
            <p:ph type="body" idx="1"/>
          </p:nvPr>
        </p:nvSpPr>
        <p:spPr>
          <a:xfrm>
            <a:off x="952500" y="1468635"/>
            <a:ext cx="11099800" cy="7171533"/>
          </a:xfrm>
          <a:prstGeom prst="rect">
            <a:avLst/>
          </a:prstGeom>
        </p:spPr>
        <p:txBody>
          <a:bodyPr/>
          <a:lstStyle/>
          <a:p>
            <a:pPr lvl="0" algn="ctr">
              <a:defRPr sz="1800"/>
            </a:pP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ИМЯ: </a:t>
            </a:r>
            <a:r>
              <a:rPr sz="2800" dirty="0"/>
              <a:t>[</a:t>
            </a:r>
            <a:r>
              <a:rPr lang="ru-RU" sz="2800" dirty="0"/>
              <a:t>Григорий</a:t>
            </a:r>
            <a:r>
              <a:rPr sz="2800" dirty="0"/>
              <a:t>]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lvl="0" algn="ctr">
              <a:defRPr sz="1800"/>
            </a:pP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E-MAIL: </a:t>
            </a:r>
            <a:r>
              <a:rPr sz="2800" dirty="0"/>
              <a:t>[</a:t>
            </a:r>
            <a:r>
              <a:rPr lang="en-US" dirty="0"/>
              <a:t>grishavertex@gmail.com</a:t>
            </a:r>
            <a:r>
              <a:rPr sz="2800" dirty="0"/>
              <a:t>]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lvl="0" algn="ctr">
              <a:defRPr sz="1800"/>
            </a:pP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ТЕЛЕФОН: </a:t>
            </a:r>
            <a:r>
              <a:rPr sz="2800" dirty="0"/>
              <a:t>[+7-</a:t>
            </a:r>
            <a:r>
              <a:rPr lang="en-US" sz="2800" dirty="0"/>
              <a:t>920</a:t>
            </a:r>
            <a:r>
              <a:rPr sz="2800" dirty="0"/>
              <a:t>-</a:t>
            </a:r>
            <a:r>
              <a:rPr lang="en-US" sz="2800" dirty="0"/>
              <a:t>888</a:t>
            </a:r>
            <a:r>
              <a:rPr sz="2800" dirty="0"/>
              <a:t>-</a:t>
            </a:r>
            <a:r>
              <a:rPr lang="en-US" sz="2800" dirty="0"/>
              <a:t>7556</a:t>
            </a:r>
            <a:r>
              <a:rPr sz="2800" dirty="0"/>
              <a:t>]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lvl="0" algn="ctr">
              <a:defRPr sz="1800"/>
            </a:pPr>
            <a:r>
              <a:rPr lang="en-US"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TG</a:t>
            </a: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sz="2800" dirty="0"/>
              <a:t>[</a:t>
            </a:r>
            <a:r>
              <a:rPr lang="en-US" sz="2800" dirty="0"/>
              <a:t>https://t.</a:t>
            </a:r>
            <a:r>
              <a:rPr lang="en-US" sz="2800"/>
              <a:t>me/Grisha_tlg</a:t>
            </a:r>
            <a:r>
              <a:rPr sz="2800"/>
              <a:t>]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300" name="Shape 300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1725</Words>
  <Application>Microsoft Office PowerPoint</Application>
  <PresentationFormat>Произвольный</PresentationFormat>
  <Paragraphs>158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2" baseType="lpstr">
      <vt:lpstr>Arial</vt:lpstr>
      <vt:lpstr>Calibri</vt:lpstr>
      <vt:lpstr>Helvetica</vt:lpstr>
      <vt:lpstr>Helvetica Light</vt:lpstr>
      <vt:lpstr>Helvetica Neue</vt:lpstr>
      <vt:lpstr>Proxima Nova Bold</vt:lpstr>
      <vt:lpstr>Proxima Nova Light</vt:lpstr>
      <vt:lpstr>Proxima Nova Light Italic</vt:lpstr>
      <vt:lpstr>Proxima Nova Regular</vt:lpstr>
      <vt:lpstr>White</vt:lpstr>
      <vt:lpstr>MindFlair  Сопрано</vt:lpstr>
      <vt:lpstr>Команда </vt:lpstr>
      <vt:lpstr>Команда </vt:lpstr>
      <vt:lpstr>Команда </vt:lpstr>
      <vt:lpstr>Команда </vt:lpstr>
      <vt:lpstr>Краткое Описание проекта</vt:lpstr>
      <vt:lpstr>ПРОБЛЕМА / АЛЬТЕРНАТИВНЫЕ РЕШЕНИЯ</vt:lpstr>
      <vt:lpstr>КЛИЕНТЫ и СЕГМЕНТЫ</vt:lpstr>
      <vt:lpstr>Технологии и инструменты </vt:lpstr>
      <vt:lpstr>Бизнес-модель и инвестиции</vt:lpstr>
      <vt:lpstr>Видео работы приложения </vt:lpstr>
      <vt:lpstr>КОНТАКТЫ капитана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Tsarev Denis</dc:creator>
  <cp:lastModifiedBy>PRIME</cp:lastModifiedBy>
  <cp:revision>24</cp:revision>
  <dcterms:modified xsi:type="dcterms:W3CDTF">2026-03-20T21:04:26Z</dcterms:modified>
</cp:coreProperties>
</file>